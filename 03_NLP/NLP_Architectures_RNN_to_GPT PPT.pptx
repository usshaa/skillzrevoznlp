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408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632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B998B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FFCC02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NLP Architectures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kern="0" spc="200" dirty="0">
                <a:solidFill>
                  <a:srgbClr val="FFC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 •  LSTM  •  GRU  •  Transformer  •  BERT  •  GPT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1B998B">
              <a:alpha val="7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7" name="Text 5"/>
          <p:cNvSpPr/>
          <p:nvPr/>
        </p:nvSpPr>
        <p:spPr>
          <a:xfrm>
            <a:off x="548640" y="2944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Sequential Memory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57984" y="292608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1B998B">
              <a:alpha val="7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9" name="Text 7"/>
          <p:cNvSpPr/>
          <p:nvPr/>
        </p:nvSpPr>
        <p:spPr>
          <a:xfrm>
            <a:off x="2157984" y="2944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Gating Mechanisms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67328" y="292608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1B998B">
              <a:alpha val="7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1" name="Text 9"/>
          <p:cNvSpPr/>
          <p:nvPr/>
        </p:nvSpPr>
        <p:spPr>
          <a:xfrm>
            <a:off x="3767328" y="2944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Self-Attention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76672" y="292608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1B998B">
              <a:alpha val="7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3" name="Text 11"/>
          <p:cNvSpPr/>
          <p:nvPr/>
        </p:nvSpPr>
        <p:spPr>
          <a:xfrm>
            <a:off x="5376672" y="2944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Pre-training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86016" y="292608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1B998B">
              <a:alpha val="7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5" name="Text 13"/>
          <p:cNvSpPr/>
          <p:nvPr/>
        </p:nvSpPr>
        <p:spPr>
          <a:xfrm>
            <a:off x="6986016" y="2944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Text Generation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Deep Learning Training Series  |  Sequential &amp; Attention Models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 (RNN)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CC02"/>
                </a:solidFill>
              </a:rPr>
              <a:t>Sequential Memory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3291840"/>
            <a:ext cx="640080" cy="502920"/>
          </a:xfrm>
          <a:prstGeom prst="ellipse">
            <a:avLst/>
          </a:prstGeom>
          <a:solidFill>
            <a:srgbClr val="264653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6" name="Text 4"/>
          <p:cNvSpPr/>
          <p:nvPr/>
        </p:nvSpPr>
        <p:spPr>
          <a:xfrm>
            <a:off x="640080" y="34244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xt-2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3291840"/>
            <a:ext cx="0" cy="0"/>
          </a:xfrm>
          <a:prstGeom prst="line">
            <a:avLst/>
          </a:prstGeom>
          <a:noFill/>
          <a:ln w="15240">
            <a:solidFill>
              <a:srgbClr val="8899A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097280" cy="640080"/>
          </a:xfrm>
          <a:prstGeom prst="ellipse">
            <a:avLst/>
          </a:prstGeom>
          <a:solidFill>
            <a:srgbClr val="1B998B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ht-2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777240"/>
            <a:ext cx="640080" cy="45720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1" name="Text 9"/>
          <p:cNvSpPr/>
          <p:nvPr/>
        </p:nvSpPr>
        <p:spPr>
          <a:xfrm>
            <a:off x="640080" y="886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yt-2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1371600"/>
            <a:ext cx="0" cy="0"/>
          </a:xfrm>
          <a:prstGeom prst="line">
            <a:avLst/>
          </a:prstGeom>
          <a:noFill/>
          <a:ln w="15240">
            <a:solidFill>
              <a:srgbClr val="8899A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13" name="Shape 11"/>
          <p:cNvSpPr/>
          <p:nvPr/>
        </p:nvSpPr>
        <p:spPr>
          <a:xfrm>
            <a:off x="1554480" y="1691640"/>
            <a:ext cx="64008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14" name="Shape 12"/>
          <p:cNvSpPr/>
          <p:nvPr/>
        </p:nvSpPr>
        <p:spPr>
          <a:xfrm>
            <a:off x="2423160" y="3291840"/>
            <a:ext cx="640080" cy="502920"/>
          </a:xfrm>
          <a:prstGeom prst="ellipse">
            <a:avLst/>
          </a:prstGeom>
          <a:solidFill>
            <a:srgbClr val="264653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5" name="Text 13"/>
          <p:cNvSpPr/>
          <p:nvPr/>
        </p:nvSpPr>
        <p:spPr>
          <a:xfrm>
            <a:off x="2377440" y="34244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xt-1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3291840"/>
            <a:ext cx="0" cy="0"/>
          </a:xfrm>
          <a:prstGeom prst="line">
            <a:avLst/>
          </a:prstGeom>
          <a:noFill/>
          <a:ln w="15240">
            <a:solidFill>
              <a:srgbClr val="8899A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17" name="Shape 15"/>
          <p:cNvSpPr/>
          <p:nvPr/>
        </p:nvSpPr>
        <p:spPr>
          <a:xfrm>
            <a:off x="2194560" y="1371600"/>
            <a:ext cx="1097280" cy="640080"/>
          </a:xfrm>
          <a:prstGeom prst="ellipse">
            <a:avLst/>
          </a:prstGeom>
          <a:solidFill>
            <a:srgbClr val="1B998B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8" name="Text 16"/>
          <p:cNvSpPr/>
          <p:nvPr/>
        </p:nvSpPr>
        <p:spPr>
          <a:xfrm>
            <a:off x="2148840" y="1572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ht-1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23160" y="777240"/>
            <a:ext cx="640080" cy="45720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20" name="Text 18"/>
          <p:cNvSpPr/>
          <p:nvPr/>
        </p:nvSpPr>
        <p:spPr>
          <a:xfrm>
            <a:off x="2377440" y="886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yt-1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0" y="1371600"/>
            <a:ext cx="0" cy="0"/>
          </a:xfrm>
          <a:prstGeom prst="line">
            <a:avLst/>
          </a:prstGeom>
          <a:noFill/>
          <a:ln w="15240">
            <a:solidFill>
              <a:srgbClr val="8899A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2" name="Shape 20"/>
          <p:cNvSpPr/>
          <p:nvPr/>
        </p:nvSpPr>
        <p:spPr>
          <a:xfrm>
            <a:off x="3291840" y="1691640"/>
            <a:ext cx="64008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3" name="Shape 21"/>
          <p:cNvSpPr/>
          <p:nvPr/>
        </p:nvSpPr>
        <p:spPr>
          <a:xfrm>
            <a:off x="4160520" y="3291840"/>
            <a:ext cx="640080" cy="502920"/>
          </a:xfrm>
          <a:prstGeom prst="ellipse">
            <a:avLst/>
          </a:prstGeom>
          <a:solidFill>
            <a:srgbClr val="264653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24" name="Text 22"/>
          <p:cNvSpPr/>
          <p:nvPr/>
        </p:nvSpPr>
        <p:spPr>
          <a:xfrm>
            <a:off x="4114800" y="34244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xt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3291840"/>
            <a:ext cx="0" cy="0"/>
          </a:xfrm>
          <a:prstGeom prst="line">
            <a:avLst/>
          </a:prstGeom>
          <a:noFill/>
          <a:ln w="15240">
            <a:solidFill>
              <a:srgbClr val="8899A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6" name="Shape 24"/>
          <p:cNvSpPr/>
          <p:nvPr/>
        </p:nvSpPr>
        <p:spPr>
          <a:xfrm>
            <a:off x="3931920" y="1371600"/>
            <a:ext cx="1097280" cy="640080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27" name="Text 25"/>
          <p:cNvSpPr/>
          <p:nvPr/>
        </p:nvSpPr>
        <p:spPr>
          <a:xfrm>
            <a:off x="3886200" y="1572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60520" y="777240"/>
            <a:ext cx="640080" cy="45720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29" name="Text 27"/>
          <p:cNvSpPr/>
          <p:nvPr/>
        </p:nvSpPr>
        <p:spPr>
          <a:xfrm>
            <a:off x="4114800" y="886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80560" y="1371600"/>
            <a:ext cx="0" cy="0"/>
          </a:xfrm>
          <a:prstGeom prst="line">
            <a:avLst/>
          </a:prstGeom>
          <a:noFill/>
          <a:ln w="15240">
            <a:solidFill>
              <a:srgbClr val="8899A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31" name="Shape 29"/>
          <p:cNvSpPr/>
          <p:nvPr/>
        </p:nvSpPr>
        <p:spPr>
          <a:xfrm>
            <a:off x="5029200" y="1691640"/>
            <a:ext cx="64008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32" name="Shape 30"/>
          <p:cNvSpPr/>
          <p:nvPr/>
        </p:nvSpPr>
        <p:spPr>
          <a:xfrm>
            <a:off x="5897880" y="3291840"/>
            <a:ext cx="640080" cy="502920"/>
          </a:xfrm>
          <a:prstGeom prst="ellipse">
            <a:avLst/>
          </a:prstGeom>
          <a:solidFill>
            <a:srgbClr val="264653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33" name="Text 31"/>
          <p:cNvSpPr/>
          <p:nvPr/>
        </p:nvSpPr>
        <p:spPr>
          <a:xfrm>
            <a:off x="5852160" y="34244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xt+1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3291840"/>
            <a:ext cx="0" cy="0"/>
          </a:xfrm>
          <a:prstGeom prst="line">
            <a:avLst/>
          </a:prstGeom>
          <a:noFill/>
          <a:ln w="15240">
            <a:solidFill>
              <a:srgbClr val="8899A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35" name="Shape 33"/>
          <p:cNvSpPr/>
          <p:nvPr/>
        </p:nvSpPr>
        <p:spPr>
          <a:xfrm>
            <a:off x="5669280" y="1371600"/>
            <a:ext cx="1097280" cy="640080"/>
          </a:xfrm>
          <a:prstGeom prst="ellipse">
            <a:avLst/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36" name="Text 34"/>
          <p:cNvSpPr/>
          <p:nvPr/>
        </p:nvSpPr>
        <p:spPr>
          <a:xfrm>
            <a:off x="5623560" y="1572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ht+1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897880" y="777240"/>
            <a:ext cx="640080" cy="457200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38" name="Text 36"/>
          <p:cNvSpPr/>
          <p:nvPr/>
        </p:nvSpPr>
        <p:spPr>
          <a:xfrm>
            <a:off x="5852160" y="8869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yt+1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1371600"/>
            <a:ext cx="0" cy="0"/>
          </a:xfrm>
          <a:prstGeom prst="line">
            <a:avLst/>
          </a:prstGeom>
          <a:noFill/>
          <a:ln w="15240">
            <a:solidFill>
              <a:srgbClr val="8899A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40" name="Shape 38"/>
          <p:cNvSpPr/>
          <p:nvPr/>
        </p:nvSpPr>
        <p:spPr>
          <a:xfrm>
            <a:off x="365760" y="1737360"/>
            <a:ext cx="6080760" cy="201168"/>
          </a:xfrm>
          <a:prstGeom prst="rect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1" name="Text 39"/>
          <p:cNvSpPr/>
          <p:nvPr/>
        </p:nvSpPr>
        <p:spPr>
          <a:xfrm>
            <a:off x="333103" y="2037059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455"/>
                </a:solidFill>
              </a:rPr>
              <a:t>← Recurrent Hidden State (Memory flows across time steps) →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3858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4653"/>
                </a:solidFill>
              </a:rPr>
              <a:t>Input xₜ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0" y="1307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Hidden hₜ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0" y="6949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4C93"/>
                </a:solidFill>
              </a:rPr>
              <a:t>Output yₜ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40880" y="731520"/>
            <a:ext cx="2011680" cy="4114800"/>
          </a:xfrm>
          <a:prstGeom prst="rect">
            <a:avLst/>
          </a:prstGeom>
          <a:solidFill>
            <a:srgbClr val="0D1B2A">
              <a:alpha val="95000"/>
            </a:srgbClr>
          </a:solidFill>
          <a:ln w="19050">
            <a:solidFill>
              <a:srgbClr val="1B998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46" name="Text 44"/>
          <p:cNvSpPr/>
          <p:nvPr/>
        </p:nvSpPr>
        <p:spPr>
          <a:xfrm>
            <a:off x="7132320" y="804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02"/>
                </a:solidFill>
              </a:rPr>
              <a:t>Components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32320" y="1261872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B998B">
              <a:alpha val="85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8" name="Text 46"/>
          <p:cNvSpPr/>
          <p:nvPr/>
        </p:nvSpPr>
        <p:spPr>
          <a:xfrm>
            <a:off x="713232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Hidden State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178040" y="15636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Stores learned memory across sequence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132320" y="2130552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B998B">
              <a:alpha val="85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51" name="Text 49"/>
          <p:cNvSpPr/>
          <p:nvPr/>
        </p:nvSpPr>
        <p:spPr>
          <a:xfrm>
            <a:off x="7132320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Gate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178040" y="24323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Brings current token into memory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132320" y="2999232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B998B">
              <a:alpha val="85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54" name="Text 52"/>
          <p:cNvSpPr/>
          <p:nvPr/>
        </p:nvSpPr>
        <p:spPr>
          <a:xfrm>
            <a:off x="7132320" y="3035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Gate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178040" y="33009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Produces prediction from hidden state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32320" y="3867912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B998B">
              <a:alpha val="85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57" name="Text 55"/>
          <p:cNvSpPr/>
          <p:nvPr/>
        </p:nvSpPr>
        <p:spPr>
          <a:xfrm>
            <a:off x="7132320" y="3904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Recurrence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178040" y="416966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h(t) = f(Wxₜ + Uhₜ₋₁ + b)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Long Short-Term Memory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109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CC02"/>
                </a:solidFill>
              </a:rPr>
              <a:t>Solving Vanishing Gradients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6400800" cy="457200"/>
          </a:xfrm>
          <a:prstGeom prst="rect">
            <a:avLst/>
          </a:prstGeom>
          <a:solidFill>
            <a:srgbClr val="E76F51">
              <a:alpha val="80000"/>
            </a:srgbClr>
          </a:solidFill>
          <a:ln w="254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Cell State  Cₜ  — Long-Term Memory Highway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707" y="1463040"/>
            <a:ext cx="1554480" cy="1234440"/>
          </a:xfrm>
          <a:prstGeom prst="rect">
            <a:avLst/>
          </a:prstGeom>
          <a:solidFill>
            <a:srgbClr val="E63946">
              <a:alpha val="95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8" name="Text 6"/>
          <p:cNvSpPr/>
          <p:nvPr/>
        </p:nvSpPr>
        <p:spPr>
          <a:xfrm>
            <a:off x="73707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Forget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FFFF"/>
                </a:solidFill>
              </a:rPr>
              <a:t>Gate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427" y="1984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fₜ = σ(Wf·[hₜ₋₁, xₜ] + bf)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9427" y="2322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What to remove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from cell state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947" y="1463040"/>
            <a:ext cx="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12" name="Shape 10"/>
          <p:cNvSpPr/>
          <p:nvPr/>
        </p:nvSpPr>
        <p:spPr>
          <a:xfrm>
            <a:off x="1993947" y="1463040"/>
            <a:ext cx="1554480" cy="1234440"/>
          </a:xfrm>
          <a:prstGeom prst="rect">
            <a:avLst/>
          </a:prstGeom>
          <a:solidFill>
            <a:srgbClr val="1B998B">
              <a:alpha val="95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3" name="Text 11"/>
          <p:cNvSpPr/>
          <p:nvPr/>
        </p:nvSpPr>
        <p:spPr>
          <a:xfrm>
            <a:off x="1993947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Gate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39667" y="1984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iₜ = σ(Wi·[hₜ₋₁, xₜ] + bi)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9667" y="2322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What new info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to store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71187" y="1463040"/>
            <a:ext cx="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17" name="Shape 15"/>
          <p:cNvSpPr/>
          <p:nvPr/>
        </p:nvSpPr>
        <p:spPr>
          <a:xfrm>
            <a:off x="3914187" y="1463040"/>
            <a:ext cx="1554480" cy="1234440"/>
          </a:xfrm>
          <a:prstGeom prst="rect">
            <a:avLst/>
          </a:prstGeom>
          <a:solidFill>
            <a:srgbClr val="FFCC02">
              <a:alpha val="95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8" name="Text 16"/>
          <p:cNvSpPr/>
          <p:nvPr/>
        </p:nvSpPr>
        <p:spPr>
          <a:xfrm>
            <a:off x="3914187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Cell Update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59906" y="1911096"/>
            <a:ext cx="14910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C̃ₜ = tanh(Wc·[hₜ₋₁,xₜ]+bc)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59907" y="2322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Candidate values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for cell state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91427" y="1463040"/>
            <a:ext cx="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2" name="Shape 20"/>
          <p:cNvSpPr/>
          <p:nvPr/>
        </p:nvSpPr>
        <p:spPr>
          <a:xfrm>
            <a:off x="5834427" y="1463040"/>
            <a:ext cx="1554480" cy="1234440"/>
          </a:xfrm>
          <a:prstGeom prst="rect">
            <a:avLst/>
          </a:prstGeom>
          <a:solidFill>
            <a:srgbClr val="6A4C93">
              <a:alpha val="95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23" name="Text 21"/>
          <p:cNvSpPr/>
          <p:nvPr/>
        </p:nvSpPr>
        <p:spPr>
          <a:xfrm>
            <a:off x="5834427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FFFF"/>
                </a:solidFill>
              </a:rPr>
              <a:t>Gate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80147" y="1984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oₜ = σ(Wo·[hₜ₋₁, xₜ] + bo)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80147" y="2322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What to 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from cell state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11667" y="1463040"/>
            <a:ext cx="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7" name="Shape 25"/>
          <p:cNvSpPr/>
          <p:nvPr/>
        </p:nvSpPr>
        <p:spPr>
          <a:xfrm>
            <a:off x="1628187" y="2084832"/>
            <a:ext cx="365760" cy="0"/>
          </a:xfrm>
          <a:prstGeom prst="line">
            <a:avLst/>
          </a:prstGeom>
          <a:noFill/>
          <a:ln w="22860">
            <a:solidFill>
              <a:srgbClr val="FFCC02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8" name="Shape 26"/>
          <p:cNvSpPr/>
          <p:nvPr/>
        </p:nvSpPr>
        <p:spPr>
          <a:xfrm>
            <a:off x="3548427" y="2084832"/>
            <a:ext cx="365760" cy="0"/>
          </a:xfrm>
          <a:prstGeom prst="line">
            <a:avLst/>
          </a:prstGeom>
          <a:noFill/>
          <a:ln w="22860">
            <a:solidFill>
              <a:srgbClr val="FFCC02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9" name="Shape 27"/>
          <p:cNvSpPr/>
          <p:nvPr/>
        </p:nvSpPr>
        <p:spPr>
          <a:xfrm>
            <a:off x="5468667" y="2084832"/>
            <a:ext cx="365760" cy="0"/>
          </a:xfrm>
          <a:prstGeom prst="line">
            <a:avLst/>
          </a:prstGeom>
          <a:noFill/>
          <a:ln w="22860">
            <a:solidFill>
              <a:srgbClr val="FFCC02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30" name="Shape 28"/>
          <p:cNvSpPr/>
          <p:nvPr/>
        </p:nvSpPr>
        <p:spPr>
          <a:xfrm>
            <a:off x="274320" y="2926080"/>
            <a:ext cx="6400800" cy="41148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1" name="Text 29"/>
          <p:cNvSpPr/>
          <p:nvPr/>
        </p:nvSpPr>
        <p:spPr>
          <a:xfrm>
            <a:off x="27432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Previous Hidden State hₜ₋₁  +  Input xₜ  →  fed to ALL gates simultaneously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3493008"/>
            <a:ext cx="6400800" cy="384048"/>
          </a:xfrm>
          <a:prstGeom prst="rect">
            <a:avLst/>
          </a:prstGeom>
          <a:solidFill>
            <a:srgbClr val="6A4C93">
              <a:alpha val="90000"/>
            </a:srgbClr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3" name="Text 31"/>
          <p:cNvSpPr/>
          <p:nvPr/>
        </p:nvSpPr>
        <p:spPr>
          <a:xfrm>
            <a:off x="274320" y="34930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Output:  hₜ = oₜ × tanh(Cₜ)  |  New hidden state passed to next cell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60920" y="749808"/>
            <a:ext cx="1691640" cy="4160520"/>
          </a:xfrm>
          <a:prstGeom prst="rect">
            <a:avLst/>
          </a:prstGeom>
          <a:solidFill>
            <a:srgbClr val="0D1B2A">
              <a:alpha val="95000"/>
            </a:srgbClr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5" name="Text 33"/>
          <p:cNvSpPr/>
          <p:nvPr/>
        </p:nvSpPr>
        <p:spPr>
          <a:xfrm>
            <a:off x="7406640" y="804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02"/>
                </a:solidFill>
              </a:rPr>
              <a:t>Key Insight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06640" y="1188720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E76F51">
              <a:alpha val="80000"/>
            </a:srgbClr>
          </a:solidFill>
          <a:ln w="10160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7" name="Text 35"/>
          <p:cNvSpPr/>
          <p:nvPr/>
        </p:nvSpPr>
        <p:spPr>
          <a:xfrm>
            <a:off x="7443216" y="12161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Cell state acts as a conveyor belt — info can flow unchanged across many steps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06640" y="1993392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E76F51">
              <a:alpha val="80000"/>
            </a:srgbClr>
          </a:solidFill>
          <a:ln w="10160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9" name="Text 37"/>
          <p:cNvSpPr/>
          <p:nvPr/>
        </p:nvSpPr>
        <p:spPr>
          <a:xfrm>
            <a:off x="7443216" y="202082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Forget gate selectively erases irrelevant history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06640" y="2798064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E76F51">
              <a:alpha val="80000"/>
            </a:srgbClr>
          </a:solidFill>
          <a:ln w="10160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1" name="Text 39"/>
          <p:cNvSpPr/>
          <p:nvPr/>
        </p:nvSpPr>
        <p:spPr>
          <a:xfrm>
            <a:off x="7443216" y="282549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Input gate writes new information carefully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06640" y="3602736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E76F51">
              <a:alpha val="80000"/>
            </a:srgbClr>
          </a:solidFill>
          <a:ln w="10160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3" name="Text 41"/>
          <p:cNvSpPr/>
          <p:nvPr/>
        </p:nvSpPr>
        <p:spPr>
          <a:xfrm>
            <a:off x="7443216" y="3630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Output gate controls what the cell exposes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— Gated Recurrent Unit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109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CC02"/>
                </a:solidFill>
              </a:rPr>
              <a:t>Streamlined Efficiency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5029200" cy="4114800"/>
          </a:xfrm>
          <a:prstGeom prst="rect">
            <a:avLst/>
          </a:prstGeom>
          <a:solidFill>
            <a:srgbClr val="0D1B2A">
              <a:alpha val="95000"/>
            </a:srgbClr>
          </a:solidFill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02"/>
                </a:solidFill>
              </a:rPr>
              <a:t>GRU 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754880" cy="411480"/>
          </a:xfrm>
          <a:prstGeom prst="rect">
            <a:avLst/>
          </a:prstGeom>
          <a:solidFill>
            <a:srgbClr val="1B998B">
              <a:alpha val="9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Single Hidden State hₜ  (memory + output combined)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920240" cy="1143000"/>
          </a:xfrm>
          <a:prstGeom prst="rect">
            <a:avLst/>
          </a:prstGeom>
          <a:solidFill>
            <a:srgbClr val="E63946">
              <a:alpha val="95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Reset Gate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rₜ = σ(Wr·[hₜ₋₁, xₜ])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How much past to forget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1874520"/>
            <a:ext cx="1920240" cy="1143000"/>
          </a:xfrm>
          <a:prstGeom prst="rect">
            <a:avLst/>
          </a:prstGeom>
          <a:solidFill>
            <a:srgbClr val="1B998B">
              <a:alpha val="95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4" name="Text 12"/>
          <p:cNvSpPr/>
          <p:nvPr/>
        </p:nvSpPr>
        <p:spPr>
          <a:xfrm>
            <a:off x="26974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Gate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221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zₜ = σ(Wz·[hₜ₋₁, xₜ])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How much of new vs 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572000" cy="502920"/>
          </a:xfrm>
          <a:prstGeom prst="rect">
            <a:avLst/>
          </a:prstGeom>
          <a:solidFill>
            <a:srgbClr val="FFCC02">
              <a:alpha val="80000"/>
            </a:srgbClr>
          </a:solidFill>
          <a:ln w="12700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455"/>
                </a:solidFill>
              </a:rPr>
              <a:t>Candidate:  h̃ₜ = tanh(W·[rₜ⊙hₜ₋₁, xₜ])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4572000" cy="502920"/>
          </a:xfrm>
          <a:prstGeom prst="rect">
            <a:avLst/>
          </a:prstGeom>
          <a:solidFill>
            <a:srgbClr val="6A4C93">
              <a:alpha val="90000"/>
            </a:srgbClr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0" name="Text 18"/>
          <p:cNvSpPr/>
          <p:nvPr/>
        </p:nvSpPr>
        <p:spPr>
          <a:xfrm>
            <a:off x="457200" y="38221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Output:  hₜ = (1-zₜ)⊙hₜ₋₁ + zₜ⊙h̃ₜ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777240"/>
            <a:ext cx="3566160" cy="4114800"/>
          </a:xfrm>
          <a:prstGeom prst="rect">
            <a:avLst/>
          </a:prstGeom>
          <a:solidFill>
            <a:srgbClr val="0D1B2A">
              <a:alpha val="95000"/>
            </a:srgbClr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4068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02"/>
                </a:solidFill>
              </a:rPr>
              <a:t>LSTM vs GRU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40680" y="1243584"/>
            <a:ext cx="3456432" cy="457200"/>
          </a:xfrm>
          <a:prstGeom prst="rect">
            <a:avLst/>
          </a:prstGeom>
          <a:solidFill>
            <a:srgbClr val="1B998B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4" name="Text 22"/>
          <p:cNvSpPr/>
          <p:nvPr/>
        </p:nvSpPr>
        <p:spPr>
          <a:xfrm>
            <a:off x="5477256" y="12801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83096" y="1280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LSTM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71816" y="128016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GRU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40680" y="1755648"/>
            <a:ext cx="3456432" cy="457200"/>
          </a:xfrm>
          <a:prstGeom prst="rect">
            <a:avLst/>
          </a:prstGeom>
          <a:solidFill>
            <a:srgbClr val="162D3E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8" name="Text 26"/>
          <p:cNvSpPr/>
          <p:nvPr/>
        </p:nvSpPr>
        <p:spPr>
          <a:xfrm>
            <a:off x="5477256" y="179222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Gates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83096" y="1792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3  (forget, input, output)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71816" y="1792224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2  (reset, update)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40680" y="2267712"/>
            <a:ext cx="3456432" cy="457200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2" name="Text 30"/>
          <p:cNvSpPr/>
          <p:nvPr/>
        </p:nvSpPr>
        <p:spPr>
          <a:xfrm>
            <a:off x="5477256" y="23042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Memory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83096" y="2304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Cell state + hidden state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71816" y="230428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Single hidden state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40680" y="2779776"/>
            <a:ext cx="3456432" cy="457200"/>
          </a:xfrm>
          <a:prstGeom prst="rect">
            <a:avLst/>
          </a:prstGeom>
          <a:solidFill>
            <a:srgbClr val="162D3E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6" name="Text 34"/>
          <p:cNvSpPr/>
          <p:nvPr/>
        </p:nvSpPr>
        <p:spPr>
          <a:xfrm>
            <a:off x="5477256" y="28163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Parameters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83096" y="28163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More  (heavier)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71816" y="2816352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Fewer  (lighter)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40680" y="3291840"/>
            <a:ext cx="3456432" cy="457200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0" name="Text 38"/>
          <p:cNvSpPr/>
          <p:nvPr/>
        </p:nvSpPr>
        <p:spPr>
          <a:xfrm>
            <a:off x="5477256" y="33284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Speed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83096" y="33284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Slower to train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71816" y="332841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Faster to train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40680" y="3803904"/>
            <a:ext cx="3456432" cy="457200"/>
          </a:xfrm>
          <a:prstGeom prst="rect">
            <a:avLst/>
          </a:prstGeom>
          <a:solidFill>
            <a:srgbClr val="162D3E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4" name="Text 42"/>
          <p:cNvSpPr/>
          <p:nvPr/>
        </p:nvSpPr>
        <p:spPr>
          <a:xfrm>
            <a:off x="5477256" y="384048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83096" y="3840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Better on long seq.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71816" y="384048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</a:rPr>
              <a:t>Comparable, often faster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1097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CC02"/>
                </a:solidFill>
              </a:rPr>
              <a:t>Attention Is All You Need (2017)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2834640" cy="4114800"/>
          </a:xfrm>
          <a:prstGeom prst="rect">
            <a:avLst/>
          </a:prstGeom>
          <a:solidFill>
            <a:srgbClr val="0D1B2A">
              <a:alpha val="95000"/>
            </a:srgbClr>
          </a:solidFill>
          <a:ln w="25400">
            <a:solidFill>
              <a:srgbClr val="1B998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795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98B"/>
                </a:solidFill>
              </a:rPr>
              <a:t>ENCODER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2523744" cy="566928"/>
          </a:xfrm>
          <a:prstGeom prst="roundRect">
            <a:avLst>
              <a:gd name="adj" fmla="val 11290"/>
            </a:avLst>
          </a:prstGeom>
          <a:solidFill>
            <a:srgbClr val="264653">
              <a:alpha val="92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8" name="Text 6"/>
          <p:cNvSpPr/>
          <p:nvPr/>
        </p:nvSpPr>
        <p:spPr>
          <a:xfrm>
            <a:off x="347472" y="133502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Input Embeddings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+ Positional Encoding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938528"/>
            <a:ext cx="2523744" cy="566928"/>
          </a:xfrm>
          <a:prstGeom prst="roundRect">
            <a:avLst>
              <a:gd name="adj" fmla="val 11290"/>
            </a:avLst>
          </a:prstGeom>
          <a:solidFill>
            <a:srgbClr val="1B998B">
              <a:alpha val="92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0" name="Text 8"/>
          <p:cNvSpPr/>
          <p:nvPr/>
        </p:nvSpPr>
        <p:spPr>
          <a:xfrm>
            <a:off x="347472" y="201168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Multi-Head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Self-Attention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615184"/>
            <a:ext cx="2523744" cy="566928"/>
          </a:xfrm>
          <a:prstGeom prst="roundRect">
            <a:avLst>
              <a:gd name="adj" fmla="val 11290"/>
            </a:avLst>
          </a:prstGeom>
          <a:solidFill>
            <a:srgbClr val="8899A6">
              <a:alpha val="92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2" name="Text 10"/>
          <p:cNvSpPr/>
          <p:nvPr/>
        </p:nvSpPr>
        <p:spPr>
          <a:xfrm>
            <a:off x="347472" y="268833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Add &amp; Norm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3291840"/>
            <a:ext cx="2523744" cy="566928"/>
          </a:xfrm>
          <a:prstGeom prst="roundRect">
            <a:avLst>
              <a:gd name="adj" fmla="val 11290"/>
            </a:avLst>
          </a:prstGeom>
          <a:solidFill>
            <a:srgbClr val="1B998B">
              <a:alpha val="92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4" name="Text 12"/>
          <p:cNvSpPr/>
          <p:nvPr/>
        </p:nvSpPr>
        <p:spPr>
          <a:xfrm>
            <a:off x="347472" y="336499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Feed-Forward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Network (FFN)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3968496"/>
            <a:ext cx="2523744" cy="566928"/>
          </a:xfrm>
          <a:prstGeom prst="roundRect">
            <a:avLst>
              <a:gd name="adj" fmla="val 11290"/>
            </a:avLst>
          </a:prstGeom>
          <a:solidFill>
            <a:srgbClr val="8899A6">
              <a:alpha val="92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6" name="Text 14"/>
          <p:cNvSpPr/>
          <p:nvPr/>
        </p:nvSpPr>
        <p:spPr>
          <a:xfrm>
            <a:off x="347472" y="404164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Add &amp; Norm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749808"/>
            <a:ext cx="2926080" cy="4114800"/>
          </a:xfrm>
          <a:prstGeom prst="rect">
            <a:avLst/>
          </a:prstGeom>
          <a:solidFill>
            <a:srgbClr val="0D1B2A">
              <a:alpha val="95000"/>
            </a:srgbClr>
          </a:solidFill>
          <a:ln w="25400">
            <a:solidFill>
              <a:srgbClr val="E76F5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91840" y="7955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6F51"/>
                </a:solidFill>
              </a:rPr>
              <a:t>DECODER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56432" y="1261872"/>
            <a:ext cx="2596896" cy="566928"/>
          </a:xfrm>
          <a:prstGeom prst="roundRect">
            <a:avLst>
              <a:gd name="adj" fmla="val 11290"/>
            </a:avLst>
          </a:prstGeom>
          <a:solidFill>
            <a:srgbClr val="264653">
              <a:alpha val="92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0" name="Text 18"/>
          <p:cNvSpPr/>
          <p:nvPr/>
        </p:nvSpPr>
        <p:spPr>
          <a:xfrm>
            <a:off x="3456432" y="133502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Output Embeddings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+ Positional Encoding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56432" y="1938528"/>
            <a:ext cx="2596896" cy="566928"/>
          </a:xfrm>
          <a:prstGeom prst="roundRect">
            <a:avLst>
              <a:gd name="adj" fmla="val 11290"/>
            </a:avLst>
          </a:prstGeom>
          <a:solidFill>
            <a:srgbClr val="E76F51">
              <a:alpha val="92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2" name="Text 20"/>
          <p:cNvSpPr/>
          <p:nvPr/>
        </p:nvSpPr>
        <p:spPr>
          <a:xfrm>
            <a:off x="3456432" y="20116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Masked Multi-Head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Self-Attention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56432" y="2615184"/>
            <a:ext cx="2596896" cy="566928"/>
          </a:xfrm>
          <a:prstGeom prst="roundRect">
            <a:avLst>
              <a:gd name="adj" fmla="val 11290"/>
            </a:avLst>
          </a:prstGeom>
          <a:solidFill>
            <a:srgbClr val="8899A6">
              <a:alpha val="92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4" name="Text 22"/>
          <p:cNvSpPr/>
          <p:nvPr/>
        </p:nvSpPr>
        <p:spPr>
          <a:xfrm>
            <a:off x="3456432" y="268833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Add &amp; Norm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56432" y="3291840"/>
            <a:ext cx="2596896" cy="566928"/>
          </a:xfrm>
          <a:prstGeom prst="roundRect">
            <a:avLst>
              <a:gd name="adj" fmla="val 11290"/>
            </a:avLst>
          </a:prstGeom>
          <a:solidFill>
            <a:srgbClr val="6A4C93">
              <a:alpha val="92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6" name="Text 24"/>
          <p:cNvSpPr/>
          <p:nvPr/>
        </p:nvSpPr>
        <p:spPr>
          <a:xfrm>
            <a:off x="3456432" y="336499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Cross-Attention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(Encoder output)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56432" y="3968496"/>
            <a:ext cx="2596896" cy="566928"/>
          </a:xfrm>
          <a:prstGeom prst="roundRect">
            <a:avLst>
              <a:gd name="adj" fmla="val 11290"/>
            </a:avLst>
          </a:prstGeom>
          <a:solidFill>
            <a:srgbClr val="E76F51">
              <a:alpha val="92000"/>
            </a:srgbClr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8" name="Text 26"/>
          <p:cNvSpPr/>
          <p:nvPr/>
        </p:nvSpPr>
        <p:spPr>
          <a:xfrm>
            <a:off x="3456432" y="404164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FFN + Add &amp; Norm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→ Linear + Softmax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17520" y="2286000"/>
            <a:ext cx="438912" cy="411480"/>
          </a:xfrm>
          <a:prstGeom prst="line">
            <a:avLst/>
          </a:prstGeom>
          <a:noFill/>
          <a:ln w="25400">
            <a:solidFill>
              <a:srgbClr val="FFCC02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30" name="Text 28"/>
          <p:cNvSpPr/>
          <p:nvPr/>
        </p:nvSpPr>
        <p:spPr>
          <a:xfrm>
            <a:off x="2834640" y="23591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CC02"/>
                </a:solidFill>
              </a:rPr>
              <a:t>Context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749808"/>
            <a:ext cx="2560320" cy="4114800"/>
          </a:xfrm>
          <a:prstGeom prst="rect">
            <a:avLst/>
          </a:prstGeom>
          <a:solidFill>
            <a:srgbClr val="0D1B2A">
              <a:alpha val="95000"/>
            </a:srgbClr>
          </a:solidFill>
          <a:ln w="1905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46520" y="822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02"/>
                </a:solidFill>
              </a:rPr>
              <a:t>Self-Attention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1207008"/>
            <a:ext cx="2377440" cy="512064"/>
          </a:xfrm>
          <a:prstGeom prst="roundRect">
            <a:avLst>
              <a:gd name="adj" fmla="val 12500"/>
            </a:avLst>
          </a:prstGeom>
          <a:solidFill>
            <a:srgbClr val="1B998B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4" name="Text 32"/>
          <p:cNvSpPr/>
          <p:nvPr/>
        </p:nvSpPr>
        <p:spPr>
          <a:xfrm>
            <a:off x="6492240" y="1243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  (Query)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1472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What am I looking for?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1828800"/>
            <a:ext cx="2377440" cy="512064"/>
          </a:xfrm>
          <a:prstGeom prst="roundRect">
            <a:avLst>
              <a:gd name="adj" fmla="val 12500"/>
            </a:avLst>
          </a:prstGeom>
          <a:solidFill>
            <a:srgbClr val="E76F51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7" name="Text 35"/>
          <p:cNvSpPr/>
          <p:nvPr/>
        </p:nvSpPr>
        <p:spPr>
          <a:xfrm>
            <a:off x="6492240" y="18653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  (Key)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37960" y="20939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What do I contain?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92240" y="2450592"/>
            <a:ext cx="2377440" cy="512064"/>
          </a:xfrm>
          <a:prstGeom prst="roundRect">
            <a:avLst>
              <a:gd name="adj" fmla="val 12500"/>
            </a:avLst>
          </a:prstGeom>
          <a:solidFill>
            <a:srgbClr val="6A4C93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0" name="Text 38"/>
          <p:cNvSpPr/>
          <p:nvPr/>
        </p:nvSpPr>
        <p:spPr>
          <a:xfrm>
            <a:off x="6492240" y="2487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  (Value)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37960" y="27157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What do I output?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92240" y="3127248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FFCC02">
              <a:alpha val="88000"/>
            </a:srgbClr>
          </a:solidFill>
          <a:ln w="12700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3" name="Text 41"/>
          <p:cNvSpPr/>
          <p:nvPr/>
        </p:nvSpPr>
        <p:spPr>
          <a:xfrm>
            <a:off x="6492240" y="31638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455"/>
                </a:solidFill>
              </a:rPr>
              <a:t>Attention(Q,K,V)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softmax(QKᵀ/√dₖ)·V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92240" y="384048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1B998B">
              <a:alpha val="88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6" name="Text 44"/>
          <p:cNvSpPr/>
          <p:nvPr/>
        </p:nvSpPr>
        <p:spPr>
          <a:xfrm>
            <a:off x="6492240" y="38770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Advantages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3796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Parallel processing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Global context in one step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No vanishing gradient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— Bidirectional Encoder Representations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CC02"/>
                </a:solidFill>
              </a:rPr>
              <a:t>Google, 2018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280160" cy="475488"/>
          </a:xfrm>
          <a:prstGeom prst="rect">
            <a:avLst/>
          </a:prstGeom>
          <a:solidFill>
            <a:srgbClr val="264653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042416"/>
            <a:ext cx="320040" cy="0"/>
          </a:xfrm>
          <a:prstGeom prst="line">
            <a:avLst/>
          </a:prstGeom>
          <a:noFill/>
          <a:ln w="19050">
            <a:solidFill>
              <a:srgbClr val="1B998B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8" name="Shape 6"/>
          <p:cNvSpPr/>
          <p:nvPr/>
        </p:nvSpPr>
        <p:spPr>
          <a:xfrm>
            <a:off x="2057400" y="804672"/>
            <a:ext cx="1280160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9" name="Text 7"/>
          <p:cNvSpPr/>
          <p:nvPr/>
        </p:nvSpPr>
        <p:spPr>
          <a:xfrm>
            <a:off x="205740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bank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42416"/>
            <a:ext cx="320040" cy="0"/>
          </a:xfrm>
          <a:prstGeom prst="line">
            <a:avLst/>
          </a:prstGeom>
          <a:noFill/>
          <a:ln w="19050">
            <a:solidFill>
              <a:srgbClr val="1B998B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11" name="Shape 9"/>
          <p:cNvSpPr/>
          <p:nvPr/>
        </p:nvSpPr>
        <p:spPr>
          <a:xfrm>
            <a:off x="3657600" y="804672"/>
            <a:ext cx="1280160" cy="475488"/>
          </a:xfrm>
          <a:prstGeom prst="rect">
            <a:avLst/>
          </a:prstGeom>
          <a:solidFill>
            <a:srgbClr val="264653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2" name="Text 10"/>
          <p:cNvSpPr/>
          <p:nvPr/>
        </p:nvSpPr>
        <p:spPr>
          <a:xfrm>
            <a:off x="365760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042416"/>
            <a:ext cx="320040" cy="0"/>
          </a:xfrm>
          <a:prstGeom prst="line">
            <a:avLst/>
          </a:prstGeom>
          <a:noFill/>
          <a:ln w="19050">
            <a:solidFill>
              <a:srgbClr val="1B998B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14" name="Shape 12"/>
          <p:cNvSpPr/>
          <p:nvPr/>
        </p:nvSpPr>
        <p:spPr>
          <a:xfrm>
            <a:off x="5257800" y="804672"/>
            <a:ext cx="1280160" cy="475488"/>
          </a:xfrm>
          <a:prstGeom prst="rect">
            <a:avLst/>
          </a:prstGeom>
          <a:solidFill>
            <a:srgbClr val="264653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5" name="Text 13"/>
          <p:cNvSpPr/>
          <p:nvPr/>
        </p:nvSpPr>
        <p:spPr>
          <a:xfrm>
            <a:off x="525780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guarantee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1042416"/>
            <a:ext cx="320040" cy="0"/>
          </a:xfrm>
          <a:prstGeom prst="line">
            <a:avLst/>
          </a:prstGeom>
          <a:noFill/>
          <a:ln w="19050">
            <a:solidFill>
              <a:srgbClr val="1B998B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17" name="Shape 15"/>
          <p:cNvSpPr/>
          <p:nvPr/>
        </p:nvSpPr>
        <p:spPr>
          <a:xfrm>
            <a:off x="6858000" y="804672"/>
            <a:ext cx="1280160" cy="475488"/>
          </a:xfrm>
          <a:prstGeom prst="rect">
            <a:avLst/>
          </a:prstGeom>
          <a:solidFill>
            <a:srgbClr val="264653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200"/>
          </a:p>
        </p:txBody>
      </p:sp>
      <p:sp>
        <p:nvSpPr>
          <p:cNvPr id="18" name="Text 16"/>
          <p:cNvSpPr/>
          <p:nvPr/>
        </p:nvSpPr>
        <p:spPr>
          <a:xfrm>
            <a:off x="685800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deposits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1417320"/>
            <a:ext cx="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0" name="Shape 18"/>
          <p:cNvSpPr/>
          <p:nvPr/>
        </p:nvSpPr>
        <p:spPr>
          <a:xfrm>
            <a:off x="5257800" y="1417320"/>
            <a:ext cx="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1" name="Shape 19"/>
          <p:cNvSpPr/>
          <p:nvPr/>
        </p:nvSpPr>
        <p:spPr>
          <a:xfrm>
            <a:off x="3657600" y="1417320"/>
            <a:ext cx="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2" name="Shape 20"/>
          <p:cNvSpPr/>
          <p:nvPr/>
        </p:nvSpPr>
        <p:spPr>
          <a:xfrm>
            <a:off x="2057400" y="1417320"/>
            <a:ext cx="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  <p:txBody>
          <a:bodyPr/>
          <a:lstStyle/>
          <a:p>
            <a:endParaRPr lang="en-IN" sz="1200"/>
          </a:p>
        </p:txBody>
      </p:sp>
      <p:sp>
        <p:nvSpPr>
          <p:cNvPr id="23" name="Text 21"/>
          <p:cNvSpPr/>
          <p:nvPr/>
        </p:nvSpPr>
        <p:spPr>
          <a:xfrm>
            <a:off x="45720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998B"/>
                </a:solidFill>
              </a:rPr>
              <a:t>→  Forward Context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63946"/>
                </a:solidFill>
              </a:rPr>
              <a:t>←  Backward Context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72936" y="1783080"/>
            <a:ext cx="1879186" cy="548640"/>
          </a:xfrm>
          <a:prstGeom prst="roundRect">
            <a:avLst>
              <a:gd name="adj" fmla="val 13333"/>
            </a:avLst>
          </a:prstGeom>
          <a:solidFill>
            <a:srgbClr val="FFCC02">
              <a:alpha val="90000"/>
            </a:srgbClr>
          </a:solidFill>
          <a:ln w="19050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6" name="Text 24"/>
          <p:cNvSpPr/>
          <p:nvPr/>
        </p:nvSpPr>
        <p:spPr>
          <a:xfrm>
            <a:off x="2153504" y="1801368"/>
            <a:ext cx="21476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455"/>
                </a:solidFill>
              </a:rPr>
              <a:t>"bank" understood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34455"/>
                </a:solidFill>
              </a:rPr>
              <a:t>both directions = CONTEXT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" y="2468880"/>
            <a:ext cx="5212080" cy="2395728"/>
          </a:xfrm>
          <a:prstGeom prst="rect">
            <a:avLst/>
          </a:prstGeom>
          <a:solidFill>
            <a:srgbClr val="0D1B2A">
              <a:alpha val="95000"/>
            </a:srgbClr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8" name="Text 26"/>
          <p:cNvSpPr/>
          <p:nvPr/>
        </p:nvSpPr>
        <p:spPr>
          <a:xfrm>
            <a:off x="274320" y="25237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02"/>
                </a:solidFill>
              </a:rPr>
              <a:t>Pre-training Tasks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2907792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1B998B">
              <a:alpha val="90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0" name="Text 28"/>
          <p:cNvSpPr/>
          <p:nvPr/>
        </p:nvSpPr>
        <p:spPr>
          <a:xfrm>
            <a:off x="320040" y="2944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Masked Language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Modeling (MLM)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C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[MASK] sat on the mat.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15% of tokens masked.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Model predicts original tokens.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Forces bidirectional learning.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834640" y="2907792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6A4C93">
              <a:alpha val="90000"/>
            </a:srgbClr>
          </a:solidFill>
          <a:ln w="127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4" name="Text 32"/>
          <p:cNvSpPr/>
          <p:nvPr/>
        </p:nvSpPr>
        <p:spPr>
          <a:xfrm>
            <a:off x="2834640" y="29443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Next Sentence Prediction (NSP)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80360" y="3163824"/>
            <a:ext cx="2286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CC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 A: 'He went to the store.'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CC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 B: 'He bought milk.'  → IsNext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CC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 B: 'Penguins are birds.' → NotNext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880360" y="40873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Trains sentence-pair relationships.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Used in QA, entailment tasks.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77840" y="2468880"/>
            <a:ext cx="3383280" cy="2395728"/>
          </a:xfrm>
          <a:prstGeom prst="rect">
            <a:avLst/>
          </a:prstGeom>
          <a:solidFill>
            <a:srgbClr val="0D1B2A">
              <a:alpha val="95000"/>
            </a:srgbClr>
          </a:solidFill>
          <a:ln w="19050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38" name="Text 36"/>
          <p:cNvSpPr/>
          <p:nvPr/>
        </p:nvSpPr>
        <p:spPr>
          <a:xfrm>
            <a:off x="5623560" y="25237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02"/>
                </a:solidFill>
              </a:rPr>
              <a:t>Model Variants &amp; Fine-Tuning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23560" y="2907792"/>
            <a:ext cx="3291840" cy="43891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0" name="Text 38"/>
          <p:cNvSpPr/>
          <p:nvPr/>
        </p:nvSpPr>
        <p:spPr>
          <a:xfrm>
            <a:off x="5669280" y="2953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BERT-Base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01968" y="2953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12 layers, 768 hidden, 12 heads, 110M params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23560" y="3401568"/>
            <a:ext cx="3291840" cy="43891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3" name="Text 41"/>
          <p:cNvSpPr/>
          <p:nvPr/>
        </p:nvSpPr>
        <p:spPr>
          <a:xfrm>
            <a:off x="5669280" y="34472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BERT-Large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01968" y="3447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24 layers, 1024 hidden, 16 heads, 340M params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23560" y="3895344"/>
            <a:ext cx="3291840" cy="43891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6" name="Text 44"/>
          <p:cNvSpPr/>
          <p:nvPr/>
        </p:nvSpPr>
        <p:spPr>
          <a:xfrm>
            <a:off x="5669280" y="39410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Fine-tuning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01968" y="3941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Add one output layer, train on task-specific data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623560" y="4389120"/>
            <a:ext cx="3291840" cy="43891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49" name="Text 47"/>
          <p:cNvSpPr/>
          <p:nvPr/>
        </p:nvSpPr>
        <p:spPr>
          <a:xfrm>
            <a:off x="5669280" y="44348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Tasks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601968" y="4434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Classification, NER, QA, Sentiment, NLI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— Generative Pre-trained Transformer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89520" y="109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CC02"/>
                </a:solidFill>
              </a:rPr>
              <a:t>OpenAI, 2018→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8778240" cy="1182189"/>
          </a:xfrm>
          <a:prstGeom prst="rect">
            <a:avLst/>
          </a:prstGeom>
          <a:solidFill>
            <a:srgbClr val="0D1B2A">
              <a:alpha val="95000"/>
            </a:srgbClr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C02"/>
                </a:solidFill>
              </a:rPr>
              <a:t>Autoregressive Text Generation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1B998B">
              <a:alpha val="92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453896"/>
            <a:ext cx="256032" cy="0"/>
          </a:xfrm>
          <a:prstGeom prst="line">
            <a:avLst/>
          </a:prstGeom>
          <a:noFill/>
          <a:ln w="22860">
            <a:solidFill>
              <a:srgbClr val="FFCC0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084832" y="1170432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1B998B">
              <a:alpha val="92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84832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quick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7872" y="1453896"/>
            <a:ext cx="256032" cy="0"/>
          </a:xfrm>
          <a:prstGeom prst="line">
            <a:avLst/>
          </a:prstGeom>
          <a:noFill/>
          <a:ln w="22860">
            <a:solidFill>
              <a:srgbClr val="FFCC0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803904" y="1170432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1B998B">
              <a:alpha val="92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03904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brown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66944" y="1453896"/>
            <a:ext cx="256032" cy="0"/>
          </a:xfrm>
          <a:prstGeom prst="line">
            <a:avLst/>
          </a:prstGeom>
          <a:noFill/>
          <a:ln w="22860">
            <a:solidFill>
              <a:srgbClr val="FFCC0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522976" y="1170432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1B998B">
              <a:alpha val="92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22976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86016" y="1453896"/>
            <a:ext cx="256032" cy="0"/>
          </a:xfrm>
          <a:prstGeom prst="line">
            <a:avLst/>
          </a:prstGeom>
          <a:noFill/>
          <a:ln w="22860">
            <a:solidFill>
              <a:srgbClr val="FFCC0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242048" y="1170432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E76F51">
              <a:alpha val="90000"/>
            </a:srgbClr>
          </a:solidFill>
          <a:ln w="25400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242048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[next?]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686800" y="1170432"/>
            <a:ext cx="22860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0" y="129844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2118981"/>
            <a:ext cx="4480560" cy="2606040"/>
          </a:xfrm>
          <a:prstGeom prst="rect">
            <a:avLst/>
          </a:prstGeom>
          <a:solidFill>
            <a:srgbClr val="0D1B2A">
              <a:alpha val="9500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4" name="Text 22"/>
          <p:cNvSpPr/>
          <p:nvPr/>
        </p:nvSpPr>
        <p:spPr>
          <a:xfrm>
            <a:off x="274320" y="2182989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76F51"/>
                </a:solidFill>
              </a:rPr>
              <a:t>Decoder-Only Architecture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47472" y="2576181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264653">
              <a:alpha val="90000"/>
            </a:srgbClr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Text 24"/>
          <p:cNvSpPr/>
          <p:nvPr/>
        </p:nvSpPr>
        <p:spPr>
          <a:xfrm>
            <a:off x="347472" y="2612757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Token + Position Embedding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2987661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E76F51">
              <a:alpha val="90000"/>
            </a:srgbClr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8" name="Text 26"/>
          <p:cNvSpPr/>
          <p:nvPr/>
        </p:nvSpPr>
        <p:spPr>
          <a:xfrm>
            <a:off x="347472" y="3024237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Masked Self-Attention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(Causal — can't see future)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3399141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8899A6">
              <a:alpha val="90000"/>
            </a:srgbClr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Text 28"/>
          <p:cNvSpPr/>
          <p:nvPr/>
        </p:nvSpPr>
        <p:spPr>
          <a:xfrm>
            <a:off x="347472" y="3435717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Layer Norm + FFN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3810621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334455">
              <a:alpha val="90000"/>
            </a:srgbClr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2" name="Text 30"/>
          <p:cNvSpPr/>
          <p:nvPr/>
        </p:nvSpPr>
        <p:spPr>
          <a:xfrm>
            <a:off x="347472" y="3847197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Repeat N times (N=12 to 96)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" y="4222101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E63946">
              <a:alpha val="90000"/>
            </a:srgbClr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4" name="Text 32"/>
          <p:cNvSpPr/>
          <p:nvPr/>
        </p:nvSpPr>
        <p:spPr>
          <a:xfrm>
            <a:off x="347472" y="4258677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Linear + Softmax → Next Token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2118981"/>
            <a:ext cx="4114800" cy="2606040"/>
          </a:xfrm>
          <a:prstGeom prst="rect">
            <a:avLst/>
          </a:prstGeom>
          <a:solidFill>
            <a:srgbClr val="0D1B2A">
              <a:alpha val="95000"/>
            </a:srgbClr>
          </a:solidFill>
          <a:ln w="19050">
            <a:solidFill>
              <a:srgbClr val="FFCC02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6" name="Text 34"/>
          <p:cNvSpPr/>
          <p:nvPr/>
        </p:nvSpPr>
        <p:spPr>
          <a:xfrm>
            <a:off x="4892040" y="2182989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C02"/>
                </a:solidFill>
              </a:rPr>
              <a:t>GPT Model Family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892040" y="2576181"/>
            <a:ext cx="4023360" cy="365760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8" name="Text 36"/>
          <p:cNvSpPr/>
          <p:nvPr/>
        </p:nvSpPr>
        <p:spPr>
          <a:xfrm>
            <a:off x="4937760" y="2621901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</a:rPr>
              <a:t>GPT-1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96128" y="2621901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CC02"/>
                </a:solidFill>
              </a:rPr>
              <a:t>117M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55080" y="2621901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117M params, language modelling basics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2996805"/>
            <a:ext cx="4023360" cy="365760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2" name="Text 40"/>
          <p:cNvSpPr/>
          <p:nvPr/>
        </p:nvSpPr>
        <p:spPr>
          <a:xfrm>
            <a:off x="4937760" y="3042525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</a:rPr>
              <a:t>GPT-2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596128" y="3042525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CC02"/>
                </a:solidFill>
              </a:rPr>
              <a:t>1.5B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55080" y="3042525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Zero-shot tasks, 'too dangerous to release'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3417429"/>
            <a:ext cx="4023360" cy="365760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46" name="Text 44"/>
          <p:cNvSpPr/>
          <p:nvPr/>
        </p:nvSpPr>
        <p:spPr>
          <a:xfrm>
            <a:off x="4937760" y="3463149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</a:rPr>
              <a:t>GPT-3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596128" y="346314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CC02"/>
                </a:solidFill>
              </a:rPr>
              <a:t>175B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55080" y="3463149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In-context learning, few-shot prompting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92040" y="3838053"/>
            <a:ext cx="4023360" cy="365760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0" name="Text 48"/>
          <p:cNvSpPr/>
          <p:nvPr/>
        </p:nvSpPr>
        <p:spPr>
          <a:xfrm>
            <a:off x="4937760" y="3883773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</a:rPr>
              <a:t>GPT-3.5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596128" y="3883773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CC02"/>
                </a:solidFill>
              </a:rPr>
              <a:t>~175B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55080" y="3883773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RLHF fine-tuning → ChatGPT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92040" y="4258677"/>
            <a:ext cx="4023360" cy="365760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4" name="Text 52"/>
          <p:cNvSpPr/>
          <p:nvPr/>
        </p:nvSpPr>
        <p:spPr>
          <a:xfrm>
            <a:off x="4937760" y="430439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</a:rPr>
              <a:t>GPT-4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596128" y="430439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CC02"/>
                </a:solidFill>
              </a:rPr>
              <a:t>&gt;1T?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355080" y="4304397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Multimodal, improved reasoning, alignment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2880" y="4798173"/>
            <a:ext cx="8778240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8" name="Text 56"/>
          <p:cNvSpPr/>
          <p:nvPr/>
        </p:nvSpPr>
        <p:spPr>
          <a:xfrm>
            <a:off x="274320" y="4798173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BERT vs GPT:  BERT = Encoder-only, bidirectional, understanding tasks  |  GPT = Decoder-only, autoregressive, generation tasks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Comparison &amp; Evolution Timeline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73152"/>
          </a:xfrm>
          <a:prstGeom prst="rect">
            <a:avLst/>
          </a:prstGeom>
          <a:solidFill>
            <a:srgbClr val="8899A6"/>
          </a:solidFill>
          <a:ln w="1270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5" name="Shape 3"/>
          <p:cNvSpPr/>
          <p:nvPr/>
        </p:nvSpPr>
        <p:spPr>
          <a:xfrm>
            <a:off x="868680" y="1005840"/>
            <a:ext cx="347472" cy="347472"/>
          </a:xfrm>
          <a:prstGeom prst="ellipse">
            <a:avLst/>
          </a:prstGeom>
          <a:solidFill>
            <a:srgbClr val="1B99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98B"/>
                </a:solidFill>
              </a:rPr>
              <a:t>1986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RNN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Backprop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05840"/>
            <a:ext cx="347472" cy="347472"/>
          </a:xfrm>
          <a:prstGeom prst="ellipse">
            <a:avLst/>
          </a:prstGeom>
          <a:solidFill>
            <a:srgbClr val="26465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9" name="Text 7"/>
          <p:cNvSpPr/>
          <p:nvPr/>
        </p:nvSpPr>
        <p:spPr>
          <a:xfrm>
            <a:off x="1965960" y="694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4653"/>
                </a:solidFill>
              </a:rPr>
              <a:t>1997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Gates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1005840"/>
            <a:ext cx="347472" cy="347472"/>
          </a:xfrm>
          <a:prstGeom prst="ellipse">
            <a:avLst/>
          </a:prstGeom>
          <a:solidFill>
            <a:srgbClr val="52B78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2" name="Text 10"/>
          <p:cNvSpPr/>
          <p:nvPr/>
        </p:nvSpPr>
        <p:spPr>
          <a:xfrm>
            <a:off x="3383280" y="694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B788"/>
                </a:solidFill>
              </a:rPr>
              <a:t>2014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GRU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Simplified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005840"/>
            <a:ext cx="347472" cy="347472"/>
          </a:xfrm>
          <a:prstGeom prst="ellipse">
            <a:avLst/>
          </a:prstGeom>
          <a:solidFill>
            <a:srgbClr val="6A4C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5" name="Text 13"/>
          <p:cNvSpPr/>
          <p:nvPr/>
        </p:nvSpPr>
        <p:spPr>
          <a:xfrm>
            <a:off x="4800600" y="694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4C93"/>
                </a:solidFill>
              </a:rPr>
              <a:t>2017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Transformer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Attention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1005840"/>
            <a:ext cx="347472" cy="347472"/>
          </a:xfrm>
          <a:prstGeom prst="ellipse">
            <a:avLst/>
          </a:prstGeom>
          <a:solidFill>
            <a:srgbClr val="1565C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8" name="Text 16"/>
          <p:cNvSpPr/>
          <p:nvPr/>
        </p:nvSpPr>
        <p:spPr>
          <a:xfrm>
            <a:off x="6217920" y="694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2018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BERT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Bidirectional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1005840"/>
            <a:ext cx="347472" cy="347472"/>
          </a:xfrm>
          <a:prstGeom prst="ellipse">
            <a:avLst/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1" name="Text 19"/>
          <p:cNvSpPr/>
          <p:nvPr/>
        </p:nvSpPr>
        <p:spPr>
          <a:xfrm>
            <a:off x="7635240" y="694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</a:rPr>
              <a:t>2018+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GPT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455"/>
                </a:solidFill>
              </a:rPr>
              <a:t>Generative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1938528"/>
            <a:ext cx="8778240" cy="2880360"/>
          </a:xfrm>
          <a:prstGeom prst="rect">
            <a:avLst/>
          </a:prstGeom>
          <a:solidFill>
            <a:srgbClr val="0D1B2A">
              <a:alpha val="97000"/>
            </a:srgbClr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4" name="Shape 22"/>
          <p:cNvSpPr/>
          <p:nvPr/>
        </p:nvSpPr>
        <p:spPr>
          <a:xfrm>
            <a:off x="228600" y="1965960"/>
            <a:ext cx="1280160" cy="384048"/>
          </a:xfrm>
          <a:prstGeom prst="rect">
            <a:avLst/>
          </a:prstGeom>
          <a:solidFill>
            <a:srgbClr val="1B998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5" name="Text 23"/>
          <p:cNvSpPr/>
          <p:nvPr/>
        </p:nvSpPr>
        <p:spPr>
          <a:xfrm>
            <a:off x="228600" y="19842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08760" y="1965960"/>
            <a:ext cx="1005840" cy="384048"/>
          </a:xfrm>
          <a:prstGeom prst="rect">
            <a:avLst/>
          </a:prstGeom>
          <a:solidFill>
            <a:srgbClr val="1B998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7" name="Text 25"/>
          <p:cNvSpPr/>
          <p:nvPr/>
        </p:nvSpPr>
        <p:spPr>
          <a:xfrm>
            <a:off x="1508760" y="19842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14600" y="1965960"/>
            <a:ext cx="1097280" cy="384048"/>
          </a:xfrm>
          <a:prstGeom prst="rect">
            <a:avLst/>
          </a:prstGeom>
          <a:solidFill>
            <a:srgbClr val="1B998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29" name="Text 27"/>
          <p:cNvSpPr/>
          <p:nvPr/>
        </p:nvSpPr>
        <p:spPr>
          <a:xfrm>
            <a:off x="2514600" y="19842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11880" y="1965960"/>
            <a:ext cx="1097280" cy="384048"/>
          </a:xfrm>
          <a:prstGeom prst="rect">
            <a:avLst/>
          </a:prstGeom>
          <a:solidFill>
            <a:srgbClr val="1B998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31" name="Text 29"/>
          <p:cNvSpPr/>
          <p:nvPr/>
        </p:nvSpPr>
        <p:spPr>
          <a:xfrm>
            <a:off x="3611880" y="19842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Parallelizable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1965960"/>
            <a:ext cx="2148840" cy="384048"/>
          </a:xfrm>
          <a:prstGeom prst="rect">
            <a:avLst/>
          </a:prstGeom>
          <a:solidFill>
            <a:srgbClr val="1B998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33" name="Text 31"/>
          <p:cNvSpPr/>
          <p:nvPr/>
        </p:nvSpPr>
        <p:spPr>
          <a:xfrm>
            <a:off x="4709160" y="19842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For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1965960"/>
            <a:ext cx="2103120" cy="384048"/>
          </a:xfrm>
          <a:prstGeom prst="rect">
            <a:avLst/>
          </a:prstGeom>
          <a:solidFill>
            <a:srgbClr val="1B998B"/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35" name="Text 33"/>
          <p:cNvSpPr/>
          <p:nvPr/>
        </p:nvSpPr>
        <p:spPr>
          <a:xfrm>
            <a:off x="6858000" y="1984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2395728"/>
            <a:ext cx="1280160" cy="347472"/>
          </a:xfrm>
          <a:prstGeom prst="rect">
            <a:avLst/>
          </a:prstGeom>
          <a:solidFill>
            <a:srgbClr val="1B998B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37" name="Text 35"/>
          <p:cNvSpPr/>
          <p:nvPr/>
        </p:nvSpPr>
        <p:spPr>
          <a:xfrm>
            <a:off x="265176" y="24323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RNN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508760" y="2395728"/>
            <a:ext cx="100584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39" name="Text 37"/>
          <p:cNvSpPr/>
          <p:nvPr/>
        </p:nvSpPr>
        <p:spPr>
          <a:xfrm>
            <a:off x="1545336" y="243230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Seq-to-Seq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14600" y="2395728"/>
            <a:ext cx="109728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41" name="Text 39"/>
          <p:cNvSpPr/>
          <p:nvPr/>
        </p:nvSpPr>
        <p:spPr>
          <a:xfrm>
            <a:off x="2551176" y="243230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Unidirectional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11880" y="2395728"/>
            <a:ext cx="109728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43" name="Text 41"/>
          <p:cNvSpPr/>
          <p:nvPr/>
        </p:nvSpPr>
        <p:spPr>
          <a:xfrm>
            <a:off x="3648456" y="243230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No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2395728"/>
            <a:ext cx="214884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45" name="Text 43"/>
          <p:cNvSpPr/>
          <p:nvPr/>
        </p:nvSpPr>
        <p:spPr>
          <a:xfrm>
            <a:off x="4745736" y="243230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Short sequences, time series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2395728"/>
            <a:ext cx="210312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47" name="Text 45"/>
          <p:cNvSpPr/>
          <p:nvPr/>
        </p:nvSpPr>
        <p:spPr>
          <a:xfrm>
            <a:off x="6894576" y="243230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Vanishing gradients on long seqs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2779776"/>
            <a:ext cx="1280160" cy="347472"/>
          </a:xfrm>
          <a:prstGeom prst="rect">
            <a:avLst/>
          </a:prstGeom>
          <a:solidFill>
            <a:srgbClr val="264653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49" name="Text 47"/>
          <p:cNvSpPr/>
          <p:nvPr/>
        </p:nvSpPr>
        <p:spPr>
          <a:xfrm>
            <a:off x="265176" y="28163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LSTM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508760" y="2779776"/>
            <a:ext cx="100584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51" name="Text 49"/>
          <p:cNvSpPr/>
          <p:nvPr/>
        </p:nvSpPr>
        <p:spPr>
          <a:xfrm>
            <a:off x="1545336" y="281635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Seq-to-Seq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514600" y="2779776"/>
            <a:ext cx="109728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53" name="Text 51"/>
          <p:cNvSpPr/>
          <p:nvPr/>
        </p:nvSpPr>
        <p:spPr>
          <a:xfrm>
            <a:off x="2551176" y="28163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Unidirectional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11880" y="2779776"/>
            <a:ext cx="109728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55" name="Text 53"/>
          <p:cNvSpPr/>
          <p:nvPr/>
        </p:nvSpPr>
        <p:spPr>
          <a:xfrm>
            <a:off x="3648456" y="28163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No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09160" y="2779776"/>
            <a:ext cx="214884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57" name="Text 55"/>
          <p:cNvSpPr/>
          <p:nvPr/>
        </p:nvSpPr>
        <p:spPr>
          <a:xfrm>
            <a:off x="4745736" y="2816352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Long sequences, translation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58000" y="2779776"/>
            <a:ext cx="210312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59" name="Text 57"/>
          <p:cNvSpPr/>
          <p:nvPr/>
        </p:nvSpPr>
        <p:spPr>
          <a:xfrm>
            <a:off x="6894576" y="281635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Slow (sequential), complex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28600" y="3163824"/>
            <a:ext cx="1280160" cy="347472"/>
          </a:xfrm>
          <a:prstGeom prst="rect">
            <a:avLst/>
          </a:prstGeom>
          <a:solidFill>
            <a:srgbClr val="52B788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61" name="Text 59"/>
          <p:cNvSpPr/>
          <p:nvPr/>
        </p:nvSpPr>
        <p:spPr>
          <a:xfrm>
            <a:off x="265176" y="32004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GRU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508760" y="3163824"/>
            <a:ext cx="100584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63" name="Text 61"/>
          <p:cNvSpPr/>
          <p:nvPr/>
        </p:nvSpPr>
        <p:spPr>
          <a:xfrm>
            <a:off x="1545336" y="32004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Seq-to-Seq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514600" y="3163824"/>
            <a:ext cx="109728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65" name="Text 63"/>
          <p:cNvSpPr/>
          <p:nvPr/>
        </p:nvSpPr>
        <p:spPr>
          <a:xfrm>
            <a:off x="2551176" y="32004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Unidirectional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611880" y="3163824"/>
            <a:ext cx="109728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67" name="Text 65"/>
          <p:cNvSpPr/>
          <p:nvPr/>
        </p:nvSpPr>
        <p:spPr>
          <a:xfrm>
            <a:off x="3648456" y="32004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No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709160" y="3163824"/>
            <a:ext cx="214884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69" name="Text 67"/>
          <p:cNvSpPr/>
          <p:nvPr/>
        </p:nvSpPr>
        <p:spPr>
          <a:xfrm>
            <a:off x="4745736" y="320040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Efficient long seq tasks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858000" y="3163824"/>
            <a:ext cx="210312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71" name="Text 69"/>
          <p:cNvSpPr/>
          <p:nvPr/>
        </p:nvSpPr>
        <p:spPr>
          <a:xfrm>
            <a:off x="6894576" y="32004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Slightly less accurate than LSTM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28600" y="3547872"/>
            <a:ext cx="1280160" cy="347472"/>
          </a:xfrm>
          <a:prstGeom prst="rect">
            <a:avLst/>
          </a:prstGeom>
          <a:solidFill>
            <a:srgbClr val="6A4C93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73" name="Text 71"/>
          <p:cNvSpPr/>
          <p:nvPr/>
        </p:nvSpPr>
        <p:spPr>
          <a:xfrm>
            <a:off x="265176" y="35844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Transformer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508760" y="3547872"/>
            <a:ext cx="100584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75" name="Text 73"/>
          <p:cNvSpPr/>
          <p:nvPr/>
        </p:nvSpPr>
        <p:spPr>
          <a:xfrm>
            <a:off x="1545336" y="358444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Enc-Dec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514600" y="3547872"/>
            <a:ext cx="109728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77" name="Text 75"/>
          <p:cNvSpPr/>
          <p:nvPr/>
        </p:nvSpPr>
        <p:spPr>
          <a:xfrm>
            <a:off x="2551176" y="35844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Bidirectional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611880" y="3547872"/>
            <a:ext cx="109728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79" name="Text 77"/>
          <p:cNvSpPr/>
          <p:nvPr/>
        </p:nvSpPr>
        <p:spPr>
          <a:xfrm>
            <a:off x="3648456" y="35844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Yes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709160" y="3547872"/>
            <a:ext cx="214884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81" name="Text 79"/>
          <p:cNvSpPr/>
          <p:nvPr/>
        </p:nvSpPr>
        <p:spPr>
          <a:xfrm>
            <a:off x="4745736" y="358444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Translation, summarization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858000" y="3547872"/>
            <a:ext cx="210312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83" name="Text 81"/>
          <p:cNvSpPr/>
          <p:nvPr/>
        </p:nvSpPr>
        <p:spPr>
          <a:xfrm>
            <a:off x="6894576" y="3584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Quadratic attention complexity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28600" y="3931920"/>
            <a:ext cx="1280160" cy="347472"/>
          </a:xfrm>
          <a:prstGeom prst="rect">
            <a:avLst/>
          </a:prstGeom>
          <a:solidFill>
            <a:srgbClr val="1565C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85" name="Text 83"/>
          <p:cNvSpPr/>
          <p:nvPr/>
        </p:nvSpPr>
        <p:spPr>
          <a:xfrm>
            <a:off x="265176" y="396849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BERT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1508760" y="3931920"/>
            <a:ext cx="100584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87" name="Text 85"/>
          <p:cNvSpPr/>
          <p:nvPr/>
        </p:nvSpPr>
        <p:spPr>
          <a:xfrm>
            <a:off x="1545336" y="396849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Encoder only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514600" y="3931920"/>
            <a:ext cx="109728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89" name="Text 87"/>
          <p:cNvSpPr/>
          <p:nvPr/>
        </p:nvSpPr>
        <p:spPr>
          <a:xfrm>
            <a:off x="2551176" y="396849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Bidirectional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3611880" y="3931920"/>
            <a:ext cx="109728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91" name="Text 89"/>
          <p:cNvSpPr/>
          <p:nvPr/>
        </p:nvSpPr>
        <p:spPr>
          <a:xfrm>
            <a:off x="3648456" y="396849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Yes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4709160" y="3931920"/>
            <a:ext cx="214884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93" name="Text 91"/>
          <p:cNvSpPr/>
          <p:nvPr/>
        </p:nvSpPr>
        <p:spPr>
          <a:xfrm>
            <a:off x="4745736" y="3968496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Classification, NER, QA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858000" y="3931920"/>
            <a:ext cx="2103120" cy="347472"/>
          </a:xfrm>
          <a:prstGeom prst="rect">
            <a:avLst/>
          </a:prstGeom>
          <a:solidFill>
            <a:srgbClr val="1C3A50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95" name="Text 93"/>
          <p:cNvSpPr/>
          <p:nvPr/>
        </p:nvSpPr>
        <p:spPr>
          <a:xfrm>
            <a:off x="6894576" y="396849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Cannot generate text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228600" y="4315968"/>
            <a:ext cx="1280160" cy="347472"/>
          </a:xfrm>
          <a:prstGeom prst="rect">
            <a:avLst/>
          </a:prstGeom>
          <a:solidFill>
            <a:srgbClr val="111111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97" name="Text 95"/>
          <p:cNvSpPr/>
          <p:nvPr/>
        </p:nvSpPr>
        <p:spPr>
          <a:xfrm>
            <a:off x="265176" y="435254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GPT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508760" y="4315968"/>
            <a:ext cx="100584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99" name="Text 97"/>
          <p:cNvSpPr/>
          <p:nvPr/>
        </p:nvSpPr>
        <p:spPr>
          <a:xfrm>
            <a:off x="1545336" y="435254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Decoder only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2514600" y="4315968"/>
            <a:ext cx="109728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01" name="Text 99"/>
          <p:cNvSpPr/>
          <p:nvPr/>
        </p:nvSpPr>
        <p:spPr>
          <a:xfrm>
            <a:off x="2551176" y="435254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Left-only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3611880" y="4315968"/>
            <a:ext cx="109728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03" name="Text 101"/>
          <p:cNvSpPr/>
          <p:nvPr/>
        </p:nvSpPr>
        <p:spPr>
          <a:xfrm>
            <a:off x="3648456" y="435254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Yes (train)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4709160" y="4315968"/>
            <a:ext cx="214884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05" name="Text 103"/>
          <p:cNvSpPr/>
          <p:nvPr/>
        </p:nvSpPr>
        <p:spPr>
          <a:xfrm>
            <a:off x="4745736" y="435254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Text generation, ChatBots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858000" y="4315968"/>
            <a:ext cx="2103120" cy="347472"/>
          </a:xfrm>
          <a:prstGeom prst="rect">
            <a:avLst/>
          </a:prstGeom>
          <a:solidFill>
            <a:srgbClr val="142C3D"/>
          </a:solidFill>
          <a:ln w="6350">
            <a:solidFill>
              <a:srgbClr val="2E5870"/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107" name="Text 105"/>
          <p:cNvSpPr/>
          <p:nvPr/>
        </p:nvSpPr>
        <p:spPr>
          <a:xfrm>
            <a:off x="6894576" y="435254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Cannot use future context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B998B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FCC02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B998B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60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🔁  RNN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Sequential memory via hidden states. Foundation of NLP — but limited by vanishing gradients on long sequences.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27248" y="105156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264653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600"/>
          </a:p>
        </p:txBody>
      </p:sp>
      <p:sp>
        <p:nvSpPr>
          <p:cNvPr id="9" name="Text 7"/>
          <p:cNvSpPr/>
          <p:nvPr/>
        </p:nvSpPr>
        <p:spPr>
          <a:xfrm>
            <a:off x="3218688" y="11430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🔀  LSTM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18688" y="1527048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Cell state highway with 3 gates. Solved long-term dependency. Dominant 2014–2017.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52B788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600"/>
          </a:p>
        </p:txBody>
      </p:sp>
      <p:sp>
        <p:nvSpPr>
          <p:cNvPr id="12" name="Text 10"/>
          <p:cNvSpPr/>
          <p:nvPr/>
        </p:nvSpPr>
        <p:spPr>
          <a:xfrm>
            <a:off x="6126480" y="11430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⚡  GRU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527048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Streamlined LSTM with 2 gates. Faster, fewer parameters — often preferred for production.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78892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6A4C93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600"/>
          </a:p>
        </p:txBody>
      </p:sp>
      <p:sp>
        <p:nvSpPr>
          <p:cNvPr id="15" name="Text 13"/>
          <p:cNvSpPr/>
          <p:nvPr/>
        </p:nvSpPr>
        <p:spPr>
          <a:xfrm>
            <a:off x="320040" y="28803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👁  Transformer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" y="3264408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'Attention Is All You Need.' Parallel processing + global context. Backbone of modern AI.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27248" y="278892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565C0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600"/>
          </a:p>
        </p:txBody>
      </p:sp>
      <p:sp>
        <p:nvSpPr>
          <p:cNvPr id="18" name="Text 16"/>
          <p:cNvSpPr/>
          <p:nvPr/>
        </p:nvSpPr>
        <p:spPr>
          <a:xfrm>
            <a:off x="3218688" y="28803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↔️  BERT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18688" y="3264408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Bidirectional pre-training + fine-tuning. Best for understanding (NER, QA, classification).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788920"/>
            <a:ext cx="2697480" cy="1572768"/>
          </a:xfrm>
          <a:prstGeom prst="roundRect">
            <a:avLst>
              <a:gd name="adj" fmla="val 5814"/>
            </a:avLst>
          </a:prstGeom>
          <a:solidFill>
            <a:srgbClr val="111111">
              <a:alpha val="8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3600"/>
          </a:p>
        </p:txBody>
      </p:sp>
      <p:sp>
        <p:nvSpPr>
          <p:cNvPr id="21" name="Text 19"/>
          <p:cNvSpPr/>
          <p:nvPr/>
        </p:nvSpPr>
        <p:spPr>
          <a:xfrm>
            <a:off x="6126480" y="28803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✍️  GPT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3264408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</a:rPr>
              <a:t>Autoregressive decoder. Scales to trillion parameters. Foundation of ChatGPT and LLMs.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1067</Words>
  <Application>Microsoft Office PowerPoint</Application>
  <PresentationFormat>On-screen Show (16:9)</PresentationFormat>
  <Paragraphs>276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Architectures: RNN to GPT</dc:title>
  <dc:subject>PptxGenJS Presentation</dc:subject>
  <dc:creator>Deep Learning Training</dc:creator>
  <cp:lastModifiedBy>EduTech</cp:lastModifiedBy>
  <cp:revision>3</cp:revision>
  <dcterms:created xsi:type="dcterms:W3CDTF">2026-05-02T13:47:51Z</dcterms:created>
  <dcterms:modified xsi:type="dcterms:W3CDTF">2026-05-03T04:21:20Z</dcterms:modified>
</cp:coreProperties>
</file>